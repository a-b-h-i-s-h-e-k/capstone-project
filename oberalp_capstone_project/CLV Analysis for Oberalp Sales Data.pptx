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Spline Sans"/>
      <p:regular r:id="rId19"/>
      <p:bold r:id="rId20"/>
    </p:embeddedFont>
    <p:embeddedFont>
      <p:font typeface="Lexend Light"/>
      <p:regular r:id="rId21"/>
      <p:bold r:id="rId22"/>
    </p:embeddedFont>
    <p:embeddedFont>
      <p:font typeface="Lexen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lineSans-bold.fntdata"/><Relationship Id="rId22" Type="http://schemas.openxmlformats.org/officeDocument/2006/relationships/font" Target="fonts/LexendLight-bold.fntdata"/><Relationship Id="rId21" Type="http://schemas.openxmlformats.org/officeDocument/2006/relationships/font" Target="fonts/LexendLight-regular.fntdata"/><Relationship Id="rId24" Type="http://schemas.openxmlformats.org/officeDocument/2006/relationships/font" Target="fonts/Lexend-bold.fntdata"/><Relationship Id="rId23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SplineSa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af861163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af861163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af861163a4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af861163a4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af861163a4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af861163a4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af861163a4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af861163a4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af861163a4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af861163a4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af861163a4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2af861163a4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af861163a4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af861163a4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af861163a4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af861163a4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af861163a4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af861163a4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af861163a4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af861163a4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af861163a4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af861163a4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af861163a4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af861163a4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af861163a4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af861163a4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17" name="Google Shape;17;p2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1241550" y="1973150"/>
            <a:ext cx="6660900" cy="7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6" name="Google Shape;76;p2"/>
          <p:cNvSpPr txBox="1"/>
          <p:nvPr>
            <p:ph idx="1" type="subTitle"/>
          </p:nvPr>
        </p:nvSpPr>
        <p:spPr>
          <a:xfrm>
            <a:off x="1810800" y="2904800"/>
            <a:ext cx="5522700" cy="30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53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2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7" name="Google Shape;97;p7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98" name="Google Shape;98;p7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02" name="Google Shape;102;p7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103" name="Google Shape;103;p7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161" name="Google Shape;161;p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421035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3" name="Google Shape;163;p7"/>
          <p:cNvSpPr txBox="1"/>
          <p:nvPr>
            <p:ph idx="2" type="body"/>
          </p:nvPr>
        </p:nvSpPr>
        <p:spPr>
          <a:xfrm>
            <a:off x="6772321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4" name="Google Shape;164;p7"/>
          <p:cNvSpPr txBox="1"/>
          <p:nvPr>
            <p:ph idx="3" type="body"/>
          </p:nvPr>
        </p:nvSpPr>
        <p:spPr>
          <a:xfrm>
            <a:off x="421035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5" name="Google Shape;165;p7"/>
          <p:cNvSpPr txBox="1"/>
          <p:nvPr>
            <p:ph idx="4" type="body"/>
          </p:nvPr>
        </p:nvSpPr>
        <p:spPr>
          <a:xfrm>
            <a:off x="6772321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>
            <p:ph idx="2" type="pic"/>
          </p:nvPr>
        </p:nvSpPr>
        <p:spPr>
          <a:xfrm>
            <a:off x="320135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8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20100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70" name="Google Shape;170;p8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1" name="Google Shape;171;p8"/>
          <p:cNvSpPr txBox="1"/>
          <p:nvPr>
            <p:ph idx="3" type="body"/>
          </p:nvPr>
        </p:nvSpPr>
        <p:spPr>
          <a:xfrm>
            <a:off x="382576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" name="Google Shape;172;p8"/>
          <p:cNvSpPr/>
          <p:nvPr>
            <p:ph idx="4" type="pic"/>
          </p:nvPr>
        </p:nvSpPr>
        <p:spPr>
          <a:xfrm>
            <a:off x="3153490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8"/>
          <p:cNvSpPr/>
          <p:nvPr/>
        </p:nvSpPr>
        <p:spPr>
          <a:xfrm>
            <a:off x="3153490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153455" y="1963005"/>
            <a:ext cx="28332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75" name="Google Shape;175;p8"/>
          <p:cNvSpPr txBox="1"/>
          <p:nvPr>
            <p:ph idx="5" type="subTitle"/>
          </p:nvPr>
        </p:nvSpPr>
        <p:spPr>
          <a:xfrm>
            <a:off x="321593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6" name="Google Shape;176;p8"/>
          <p:cNvSpPr txBox="1"/>
          <p:nvPr>
            <p:ph idx="6" type="body"/>
          </p:nvPr>
        </p:nvSpPr>
        <p:spPr>
          <a:xfrm>
            <a:off x="321593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7" name="Google Shape;177;p8"/>
          <p:cNvSpPr/>
          <p:nvPr>
            <p:ph idx="7" type="pic"/>
          </p:nvPr>
        </p:nvSpPr>
        <p:spPr>
          <a:xfrm>
            <a:off x="5986869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8"/>
          <p:cNvSpPr/>
          <p:nvPr/>
        </p:nvSpPr>
        <p:spPr>
          <a:xfrm>
            <a:off x="5986869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986834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80" name="Google Shape;180;p8"/>
          <p:cNvSpPr txBox="1"/>
          <p:nvPr>
            <p:ph idx="8" type="subTitle"/>
          </p:nvPr>
        </p:nvSpPr>
        <p:spPr>
          <a:xfrm>
            <a:off x="604931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8"/>
          <p:cNvSpPr txBox="1"/>
          <p:nvPr>
            <p:ph idx="9" type="body"/>
          </p:nvPr>
        </p:nvSpPr>
        <p:spPr>
          <a:xfrm>
            <a:off x="604931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2" name="Google Shape;182;p8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>
            <p:ph idx="2" type="pic"/>
          </p:nvPr>
        </p:nvSpPr>
        <p:spPr>
          <a:xfrm>
            <a:off x="320153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9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20100" y="1963000"/>
            <a:ext cx="42498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87" name="Google Shape;187;p9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8" name="Google Shape;188;p9"/>
          <p:cNvSpPr txBox="1"/>
          <p:nvPr>
            <p:ph idx="3" type="body"/>
          </p:nvPr>
        </p:nvSpPr>
        <p:spPr>
          <a:xfrm>
            <a:off x="413816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9" name="Google Shape;189;p9"/>
          <p:cNvSpPr/>
          <p:nvPr>
            <p:ph idx="4" type="pic"/>
          </p:nvPr>
        </p:nvSpPr>
        <p:spPr>
          <a:xfrm>
            <a:off x="4570230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9"/>
          <p:cNvSpPr/>
          <p:nvPr/>
        </p:nvSpPr>
        <p:spPr>
          <a:xfrm>
            <a:off x="4570578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0177" y="1963000"/>
            <a:ext cx="42498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2" name="Google Shape;192;p9"/>
          <p:cNvSpPr txBox="1"/>
          <p:nvPr>
            <p:ph idx="5" type="subTitle"/>
          </p:nvPr>
        </p:nvSpPr>
        <p:spPr>
          <a:xfrm>
            <a:off x="4633019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3" name="Google Shape;193;p9"/>
          <p:cNvSpPr txBox="1"/>
          <p:nvPr>
            <p:ph idx="6" type="body"/>
          </p:nvPr>
        </p:nvSpPr>
        <p:spPr>
          <a:xfrm>
            <a:off x="4663893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4" name="Google Shape;194;p9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33">
          <p15:clr>
            <a:srgbClr val="E46962"/>
          </p15:clr>
        </p15:guide>
        <p15:guide id="2" pos="202">
          <p15:clr>
            <a:srgbClr val="E46962"/>
          </p15:clr>
        </p15:guide>
        <p15:guide id="3" pos="5556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0" y="1370900"/>
            <a:ext cx="45696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10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10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0" name="Google Shape;200;p10"/>
          <p:cNvSpPr/>
          <p:nvPr/>
        </p:nvSpPr>
        <p:spPr>
          <a:xfrm>
            <a:off x="4574400" y="1370900"/>
            <a:ext cx="45696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10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10"/>
          <p:cNvSpPr txBox="1"/>
          <p:nvPr>
            <p:ph idx="4" type="body"/>
          </p:nvPr>
        </p:nvSpPr>
        <p:spPr>
          <a:xfrm>
            <a:off x="50265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3" name="Google Shape;203;p10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SECTION_HEADER_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0" y="1370900"/>
            <a:ext cx="4569600" cy="187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" name="Google Shape;20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4569600" y="1370900"/>
            <a:ext cx="4574400" cy="18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" name="Google Shape;208;p11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09" name="Google Shape;209;p11"/>
          <p:cNvSpPr/>
          <p:nvPr/>
        </p:nvSpPr>
        <p:spPr>
          <a:xfrm>
            <a:off x="0" y="3241100"/>
            <a:ext cx="4569600" cy="19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" name="Google Shape;210;p11"/>
          <p:cNvSpPr txBox="1"/>
          <p:nvPr>
            <p:ph idx="1" type="subTitle"/>
          </p:nvPr>
        </p:nvSpPr>
        <p:spPr>
          <a:xfrm>
            <a:off x="452100" y="353060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1" name="Google Shape;211;p11"/>
          <p:cNvSpPr txBox="1"/>
          <p:nvPr>
            <p:ph idx="2" type="body"/>
          </p:nvPr>
        </p:nvSpPr>
        <p:spPr>
          <a:xfrm>
            <a:off x="452100" y="415380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2" name="Google Shape;212;p11"/>
          <p:cNvSpPr/>
          <p:nvPr/>
        </p:nvSpPr>
        <p:spPr>
          <a:xfrm>
            <a:off x="4569600" y="3241100"/>
            <a:ext cx="4574400" cy="190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3" name="Google Shape;213;p11"/>
          <p:cNvSpPr txBox="1"/>
          <p:nvPr>
            <p:ph idx="3" type="subTitle"/>
          </p:nvPr>
        </p:nvSpPr>
        <p:spPr>
          <a:xfrm>
            <a:off x="452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4" name="Google Shape;214;p11"/>
          <p:cNvSpPr txBox="1"/>
          <p:nvPr>
            <p:ph idx="4" type="body"/>
          </p:nvPr>
        </p:nvSpPr>
        <p:spPr>
          <a:xfrm>
            <a:off x="452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5" name="Google Shape;215;p11"/>
          <p:cNvSpPr txBox="1"/>
          <p:nvPr>
            <p:ph idx="5" type="subTitle"/>
          </p:nvPr>
        </p:nvSpPr>
        <p:spPr>
          <a:xfrm>
            <a:off x="4979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6" name="Google Shape;216;p11"/>
          <p:cNvSpPr txBox="1"/>
          <p:nvPr>
            <p:ph idx="6" type="body"/>
          </p:nvPr>
        </p:nvSpPr>
        <p:spPr>
          <a:xfrm>
            <a:off x="4979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7" name="Google Shape;217;p11"/>
          <p:cNvSpPr txBox="1"/>
          <p:nvPr>
            <p:ph idx="7" type="subTitle"/>
          </p:nvPr>
        </p:nvSpPr>
        <p:spPr>
          <a:xfrm>
            <a:off x="4979100" y="34597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8" name="Google Shape;218;p11"/>
          <p:cNvSpPr txBox="1"/>
          <p:nvPr>
            <p:ph idx="8" type="body"/>
          </p:nvPr>
        </p:nvSpPr>
        <p:spPr>
          <a:xfrm>
            <a:off x="4979100" y="40829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SECTION_HEADER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1" name="Google Shape;22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12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3" name="Google Shape;223;p12"/>
          <p:cNvSpPr/>
          <p:nvPr/>
        </p:nvSpPr>
        <p:spPr>
          <a:xfrm>
            <a:off x="3048000" y="1370900"/>
            <a:ext cx="30480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09600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5" name="Google Shape;225;p12"/>
          <p:cNvSpPr txBox="1"/>
          <p:nvPr>
            <p:ph idx="1" type="subTitle"/>
          </p:nvPr>
        </p:nvSpPr>
        <p:spPr>
          <a:xfrm>
            <a:off x="33822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6" name="Google Shape;226;p12"/>
          <p:cNvSpPr txBox="1"/>
          <p:nvPr>
            <p:ph idx="2" type="body"/>
          </p:nvPr>
        </p:nvSpPr>
        <p:spPr>
          <a:xfrm>
            <a:off x="33822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7" name="Google Shape;227;p12"/>
          <p:cNvSpPr txBox="1"/>
          <p:nvPr>
            <p:ph idx="3" type="subTitle"/>
          </p:nvPr>
        </p:nvSpPr>
        <p:spPr>
          <a:xfrm>
            <a:off x="3411300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8" name="Google Shape;228;p12"/>
          <p:cNvSpPr txBox="1"/>
          <p:nvPr>
            <p:ph idx="4" type="body"/>
          </p:nvPr>
        </p:nvSpPr>
        <p:spPr>
          <a:xfrm>
            <a:off x="3411300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9" name="Google Shape;229;p12"/>
          <p:cNvSpPr txBox="1"/>
          <p:nvPr>
            <p:ph idx="5" type="subTitle"/>
          </p:nvPr>
        </p:nvSpPr>
        <p:spPr>
          <a:xfrm>
            <a:off x="648437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0" name="Google Shape;230;p12"/>
          <p:cNvSpPr txBox="1"/>
          <p:nvPr>
            <p:ph idx="6" type="body"/>
          </p:nvPr>
        </p:nvSpPr>
        <p:spPr>
          <a:xfrm>
            <a:off x="648437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SECTION_HEADER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0" y="1374200"/>
            <a:ext cx="4569600" cy="376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3" name="Google Shape;23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13"/>
          <p:cNvSpPr/>
          <p:nvPr>
            <p:ph idx="2" type="pic"/>
          </p:nvPr>
        </p:nvSpPr>
        <p:spPr>
          <a:xfrm>
            <a:off x="4569600" y="1374200"/>
            <a:ext cx="4574400" cy="37692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13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1" type="body"/>
          </p:nvPr>
        </p:nvSpPr>
        <p:spPr>
          <a:xfrm>
            <a:off x="452100" y="1869650"/>
            <a:ext cx="3755400" cy="27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7" name="Google Shape;237;p13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SECTION_HEADER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14"/>
          <p:cNvSpPr/>
          <p:nvPr>
            <p:ph idx="2" type="pic"/>
          </p:nvPr>
        </p:nvSpPr>
        <p:spPr>
          <a:xfrm>
            <a:off x="0" y="1374200"/>
            <a:ext cx="9144000" cy="379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14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body and image " type="tx">
  <p:cSld name="TITLE_AND_BOD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5" name="Google Shape;245;p15"/>
          <p:cNvSpPr txBox="1"/>
          <p:nvPr>
            <p:ph idx="1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2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7" name="Google Shape;247;p15"/>
          <p:cNvSpPr txBox="1"/>
          <p:nvPr>
            <p:ph idx="3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8" name="Google Shape;248;p15"/>
          <p:cNvSpPr/>
          <p:nvPr>
            <p:ph idx="4" type="pic"/>
          </p:nvPr>
        </p:nvSpPr>
        <p:spPr>
          <a:xfrm>
            <a:off x="4907150" y="0"/>
            <a:ext cx="4236900" cy="51534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15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BODY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909625" y="-100"/>
            <a:ext cx="4234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4" name="Google Shape;254;p16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16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6" name="Google Shape;256;p16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16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woColTx">
  <p:cSld name="TITLE_AND_TWO_COLUMNS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2" name="Google Shape;262;p17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7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7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5" name="Google Shape;265;p17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7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7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7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7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4" name="Google Shape;274;p17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7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6" name="Google Shape;276;p17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7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7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7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" name="Google Shape;289;p17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7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7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17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" name="Google Shape;293;p17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7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7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" name="Google Shape;296;p17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" name="Google Shape;297;p17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7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9" name="Google Shape;299;p17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7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1" name="Google Shape;301;p17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3" name="Google Shape;303;p17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7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5" name="Google Shape;305;p17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7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7" name="Google Shape;307;p17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17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7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7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" name="Google Shape;311;p17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" name="Google Shape;312;p17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1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TITLE_AND_TWO_COLUMNS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6" name="Google Shape;316;p18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17" name="Google Shape;317;p18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8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8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2" name="Google Shape;322;p18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8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8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5" name="Google Shape;325;p18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6" name="Google Shape;326;p18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8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8" name="Google Shape;328;p18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8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0" name="Google Shape;330;p18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8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2" name="Google Shape;332;p18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8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4" name="Google Shape;334;p18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8" name="Google Shape;338;p18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9" name="Google Shape;339;p18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8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8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3" name="Google Shape;343;p18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5" name="Google Shape;345;p18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8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8" name="Google Shape;348;p18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9" name="Google Shape;349;p18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8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8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2" name="Google Shape;352;p18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3" name="Google Shape;353;p18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8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5" name="Google Shape;355;p18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8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7" name="Google Shape;357;p18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8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9" name="Google Shape;359;p18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8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1" name="Google Shape;361;p18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8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3" name="Google Shape;363;p18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18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8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8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18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8" name="Google Shape;368;p18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18"/>
          <p:cNvSpPr txBox="1"/>
          <p:nvPr>
            <p:ph type="title"/>
          </p:nvPr>
        </p:nvSpPr>
        <p:spPr>
          <a:xfrm>
            <a:off x="1319000" y="94220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0" name="Google Shape;370;p18"/>
          <p:cNvSpPr txBox="1"/>
          <p:nvPr>
            <p:ph idx="1" type="body"/>
          </p:nvPr>
        </p:nvSpPr>
        <p:spPr>
          <a:xfrm>
            <a:off x="885050" y="2505325"/>
            <a:ext cx="75288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TITLE_ONLY_3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73" name="Google Shape;373;p19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74" name="Google Shape;374;p19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76" name="Google Shape;376;p19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77" name="Google Shape;377;p19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78" name="Google Shape;378;p19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ONLY_3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1" name="Google Shape;381;p20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82" name="Google Shape;382;p20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83" name="Google Shape;383;p20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84" name="Google Shape;384;p20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85" name="Google Shape;385;p20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86" name="Google Shape;386;p20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7" name="Google Shape;387;p20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ONLY_3_1_1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0" name="Google Shape;390;p21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91" name="Google Shape;391;p21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21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21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95" name="Google Shape;395;p21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6" name="Google Shape;396;p21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21"/>
          <p:cNvSpPr txBox="1"/>
          <p:nvPr>
            <p:ph idx="2" type="body"/>
          </p:nvPr>
        </p:nvSpPr>
        <p:spPr>
          <a:xfrm>
            <a:off x="48533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ONLY_2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00" name="Google Shape;400;p22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01" name="Google Shape;401;p22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3" name="Google Shape;403;p22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4" name="Google Shape;404;p22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2_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3"/>
          <p:cNvSpPr/>
          <p:nvPr>
            <p:ph idx="2" type="pic"/>
          </p:nvPr>
        </p:nvSpPr>
        <p:spPr>
          <a:xfrm>
            <a:off x="86925" y="86600"/>
            <a:ext cx="8970600" cy="4970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08" name="Google Shape;408;p23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09" name="Google Shape;409;p23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10" name="Google Shape;410;p23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11" name="Google Shape;411;p23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12" name="Google Shape;412;p23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2_1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24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15" name="Google Shape;415;p24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17" name="Google Shape;417;p24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19" name="Google Shape;41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93700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3085137" y="1076175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6076575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93700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3085137" y="2403242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6076575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93700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3085137" y="3729768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6076575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9" name="Google Shape;429;p24"/>
          <p:cNvSpPr txBox="1"/>
          <p:nvPr>
            <p:ph type="title"/>
          </p:nvPr>
        </p:nvSpPr>
        <p:spPr>
          <a:xfrm>
            <a:off x="408650" y="19395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30" name="Google Shape;430;p24"/>
          <p:cNvSpPr/>
          <p:nvPr>
            <p:ph idx="2" type="pic"/>
          </p:nvPr>
        </p:nvSpPr>
        <p:spPr>
          <a:xfrm>
            <a:off x="205750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24"/>
          <p:cNvSpPr/>
          <p:nvPr>
            <p:ph idx="3" type="pic"/>
          </p:nvPr>
        </p:nvSpPr>
        <p:spPr>
          <a:xfrm>
            <a:off x="32079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24"/>
          <p:cNvSpPr/>
          <p:nvPr>
            <p:ph idx="4" type="pic"/>
          </p:nvPr>
        </p:nvSpPr>
        <p:spPr>
          <a:xfrm>
            <a:off x="62101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24"/>
          <p:cNvSpPr/>
          <p:nvPr>
            <p:ph idx="5" type="pic"/>
          </p:nvPr>
        </p:nvSpPr>
        <p:spPr>
          <a:xfrm>
            <a:off x="205750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24"/>
          <p:cNvSpPr/>
          <p:nvPr>
            <p:ph idx="6" type="pic"/>
          </p:nvPr>
        </p:nvSpPr>
        <p:spPr>
          <a:xfrm>
            <a:off x="32079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24"/>
          <p:cNvSpPr/>
          <p:nvPr>
            <p:ph idx="7" type="pic"/>
          </p:nvPr>
        </p:nvSpPr>
        <p:spPr>
          <a:xfrm>
            <a:off x="62101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24"/>
          <p:cNvSpPr/>
          <p:nvPr>
            <p:ph idx="8" type="pic"/>
          </p:nvPr>
        </p:nvSpPr>
        <p:spPr>
          <a:xfrm>
            <a:off x="205750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24"/>
          <p:cNvSpPr/>
          <p:nvPr>
            <p:ph idx="9" type="pic"/>
          </p:nvPr>
        </p:nvSpPr>
        <p:spPr>
          <a:xfrm>
            <a:off x="32079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24"/>
          <p:cNvSpPr/>
          <p:nvPr>
            <p:ph idx="13" type="pic"/>
          </p:nvPr>
        </p:nvSpPr>
        <p:spPr>
          <a:xfrm>
            <a:off x="62101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ONLY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41" name="Google Shape;441;p25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42" name="Google Shape;442;p25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4" name="Google Shape;444;p25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5" name="Google Shape;445;p25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46" name="Google Shape;446;p25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_2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6"/>
          <p:cNvSpPr/>
          <p:nvPr/>
        </p:nvSpPr>
        <p:spPr>
          <a:xfrm>
            <a:off x="332700" y="1182025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9" name="Google Shape;4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26"/>
          <p:cNvSpPr txBox="1"/>
          <p:nvPr>
            <p:ph type="title"/>
          </p:nvPr>
        </p:nvSpPr>
        <p:spPr>
          <a:xfrm>
            <a:off x="265500" y="297100"/>
            <a:ext cx="84711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1" name="Google Shape;451;p26"/>
          <p:cNvSpPr txBox="1"/>
          <p:nvPr>
            <p:ph idx="1" type="subTitle"/>
          </p:nvPr>
        </p:nvSpPr>
        <p:spPr>
          <a:xfrm>
            <a:off x="46470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452" name="Google Shape;452;p26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53" name="Google Shape;453;p26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57" name="Google Shape;457;p26"/>
          <p:cNvSpPr/>
          <p:nvPr/>
        </p:nvSpPr>
        <p:spPr>
          <a:xfrm>
            <a:off x="4572000" y="1182025"/>
            <a:ext cx="4239300" cy="1267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58" name="Google Shape;458;p26"/>
          <p:cNvSpPr txBox="1"/>
          <p:nvPr>
            <p:ph idx="2" type="subTitle"/>
          </p:nvPr>
        </p:nvSpPr>
        <p:spPr>
          <a:xfrm>
            <a:off x="472455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9" name="Google Shape;459;p26"/>
          <p:cNvSpPr/>
          <p:nvPr/>
        </p:nvSpPr>
        <p:spPr>
          <a:xfrm>
            <a:off x="332700" y="2386993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0" name="Google Shape;460;p26"/>
          <p:cNvSpPr txBox="1"/>
          <p:nvPr>
            <p:ph idx="3" type="subTitle"/>
          </p:nvPr>
        </p:nvSpPr>
        <p:spPr>
          <a:xfrm>
            <a:off x="4647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1" name="Google Shape;461;p26"/>
          <p:cNvSpPr/>
          <p:nvPr/>
        </p:nvSpPr>
        <p:spPr>
          <a:xfrm>
            <a:off x="4572000" y="2386993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2" name="Google Shape;462;p26"/>
          <p:cNvSpPr txBox="1"/>
          <p:nvPr>
            <p:ph idx="4" type="subTitle"/>
          </p:nvPr>
        </p:nvSpPr>
        <p:spPr>
          <a:xfrm>
            <a:off x="47040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3" name="Google Shape;463;p26"/>
          <p:cNvSpPr/>
          <p:nvPr/>
        </p:nvSpPr>
        <p:spPr>
          <a:xfrm>
            <a:off x="332700" y="3591961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4" name="Google Shape;464;p26"/>
          <p:cNvSpPr txBox="1"/>
          <p:nvPr>
            <p:ph idx="5" type="subTitle"/>
          </p:nvPr>
        </p:nvSpPr>
        <p:spPr>
          <a:xfrm>
            <a:off x="46470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5" name="Google Shape;465;p26"/>
          <p:cNvSpPr/>
          <p:nvPr/>
        </p:nvSpPr>
        <p:spPr>
          <a:xfrm>
            <a:off x="4572000" y="3591961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6" name="Google Shape;466;p26"/>
          <p:cNvSpPr txBox="1"/>
          <p:nvPr>
            <p:ph idx="6" type="subTitle"/>
          </p:nvPr>
        </p:nvSpPr>
        <p:spPr>
          <a:xfrm>
            <a:off x="472455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69" name="Google Shape;469;p27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70" name="Google Shape;470;p27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72" name="Google Shape;472;p27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73" name="Google Shape;473;p27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74" name="Google Shape;474;p27"/>
          <p:cNvSpPr txBox="1"/>
          <p:nvPr>
            <p:ph idx="1" type="body"/>
          </p:nvPr>
        </p:nvSpPr>
        <p:spPr>
          <a:xfrm>
            <a:off x="261775" y="4039275"/>
            <a:ext cx="59583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1">
  <p:cSld name="ONE_COLUMN_TEXT">
    <p:bg>
      <p:bgPr>
        <a:solidFill>
          <a:schemeClr val="dk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28"/>
          <p:cNvSpPr/>
          <p:nvPr/>
        </p:nvSpPr>
        <p:spPr>
          <a:xfrm>
            <a:off x="0" y="1765150"/>
            <a:ext cx="9144000" cy="33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8" name="Google Shape;478;p28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79" name="Google Shape;479;p28"/>
          <p:cNvSpPr txBox="1"/>
          <p:nvPr>
            <p:ph idx="2" type="subTitle"/>
          </p:nvPr>
        </p:nvSpPr>
        <p:spPr>
          <a:xfrm>
            <a:off x="433550" y="2197100"/>
            <a:ext cx="7148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480" name="Google Shape;480;p28"/>
          <p:cNvSpPr txBox="1"/>
          <p:nvPr>
            <p:ph idx="3" type="body"/>
          </p:nvPr>
        </p:nvSpPr>
        <p:spPr>
          <a:xfrm>
            <a:off x="433550" y="2914750"/>
            <a:ext cx="7148400" cy="17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1" name="Google Shape;481;p28"/>
          <p:cNvSpPr txBox="1"/>
          <p:nvPr>
            <p:ph idx="4" type="body"/>
          </p:nvPr>
        </p:nvSpPr>
        <p:spPr>
          <a:xfrm>
            <a:off x="1181100" y="689575"/>
            <a:ext cx="6934200" cy="10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2" name="Google Shape;482;p28"/>
          <p:cNvSpPr/>
          <p:nvPr/>
        </p:nvSpPr>
        <p:spPr>
          <a:xfrm>
            <a:off x="537600" y="689575"/>
            <a:ext cx="537900" cy="107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483" name="Google Shape;483;p28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2">
  <p:cSld name="ONE_COLUMN_TEXT_1">
    <p:bg>
      <p:bgPr>
        <a:solidFill>
          <a:schemeClr val="dk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9"/>
          <p:cNvSpPr/>
          <p:nvPr/>
        </p:nvSpPr>
        <p:spPr>
          <a:xfrm>
            <a:off x="0" y="1227375"/>
            <a:ext cx="9144000" cy="391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29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88" name="Google Shape;488;p29"/>
          <p:cNvSpPr txBox="1"/>
          <p:nvPr>
            <p:ph idx="2" type="subTitle"/>
          </p:nvPr>
        </p:nvSpPr>
        <p:spPr>
          <a:xfrm>
            <a:off x="433550" y="1673375"/>
            <a:ext cx="4100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489" name="Google Shape;489;p29"/>
          <p:cNvSpPr txBox="1"/>
          <p:nvPr>
            <p:ph idx="3" type="body"/>
          </p:nvPr>
        </p:nvSpPr>
        <p:spPr>
          <a:xfrm>
            <a:off x="433550" y="2391025"/>
            <a:ext cx="3795600" cy="23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0" name="Google Shape;490;p29"/>
          <p:cNvSpPr txBox="1"/>
          <p:nvPr>
            <p:ph idx="4" type="body"/>
          </p:nvPr>
        </p:nvSpPr>
        <p:spPr>
          <a:xfrm>
            <a:off x="1181100" y="692750"/>
            <a:ext cx="6934200" cy="53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1" name="Google Shape;491;p29"/>
          <p:cNvSpPr/>
          <p:nvPr/>
        </p:nvSpPr>
        <p:spPr>
          <a:xfrm>
            <a:off x="537600" y="689575"/>
            <a:ext cx="537900" cy="537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492" name="Google Shape;492;p29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MAIN_POINT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30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TITLE_AND_DESCRIPTION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9" name="Google Shape;499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0" name="Google Shape;50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2221525"/>
            <a:ext cx="8520600" cy="24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Light"/>
              <a:buChar char="●"/>
              <a:defRPr sz="1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2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CLV Analysis for Oberalp Sales Data</a:t>
            </a:r>
            <a:endParaRPr/>
          </a:p>
        </p:txBody>
      </p:sp>
      <p:sp>
        <p:nvSpPr>
          <p:cNvPr id="506" name="Google Shape;506;p32"/>
          <p:cNvSpPr txBox="1"/>
          <p:nvPr>
            <p:ph idx="1" type="body"/>
          </p:nvPr>
        </p:nvSpPr>
        <p:spPr>
          <a:xfrm>
            <a:off x="139017" y="224850"/>
            <a:ext cx="3492000" cy="7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Abhishek Bargujar &amp; Burak Toptaş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2"/>
          <p:cNvSpPr txBox="1"/>
          <p:nvPr>
            <p:ph idx="2" type="body"/>
          </p:nvPr>
        </p:nvSpPr>
        <p:spPr>
          <a:xfrm>
            <a:off x="6772321" y="224850"/>
            <a:ext cx="19476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Capstone Project</a:t>
            </a:r>
            <a:endParaRPr/>
          </a:p>
        </p:txBody>
      </p:sp>
      <p:sp>
        <p:nvSpPr>
          <p:cNvPr id="508" name="Google Shape;508;p32"/>
          <p:cNvSpPr txBox="1"/>
          <p:nvPr>
            <p:ph idx="3" type="body"/>
          </p:nvPr>
        </p:nvSpPr>
        <p:spPr>
          <a:xfrm>
            <a:off x="421025" y="4573625"/>
            <a:ext cx="2928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Free University of Bolzano</a:t>
            </a:r>
            <a:endParaRPr/>
          </a:p>
        </p:txBody>
      </p:sp>
      <p:sp>
        <p:nvSpPr>
          <p:cNvPr id="509" name="Google Shape;509;p32"/>
          <p:cNvSpPr txBox="1"/>
          <p:nvPr>
            <p:ph idx="4" type="body"/>
          </p:nvPr>
        </p:nvSpPr>
        <p:spPr>
          <a:xfrm>
            <a:off x="5228053" y="4573625"/>
            <a:ext cx="3492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Supervisor: Floriano Zini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3"/>
          <p:cNvSpPr txBox="1"/>
          <p:nvPr>
            <p:ph idx="1" type="subTitle"/>
          </p:nvPr>
        </p:nvSpPr>
        <p:spPr>
          <a:xfrm>
            <a:off x="311200" y="289230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CLV important?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Businesses use CLV to optimize customer acquisition costs and personalize marketing efforts, ensuring that they focus on high-value customers.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33"/>
          <p:cNvSpPr txBox="1"/>
          <p:nvPr>
            <p:ph idx="2" type="body"/>
          </p:nvPr>
        </p:nvSpPr>
        <p:spPr>
          <a:xfrm>
            <a:off x="311200" y="1677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CLV is a key metric in customer relationship management. It estimates the total revenue a customer will generate over their engagement with a business.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33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Challenges in CLV Prediction</a:t>
            </a:r>
            <a:endParaRPr/>
          </a:p>
        </p:txBody>
      </p:sp>
      <p:sp>
        <p:nvSpPr>
          <p:cNvPr id="517" name="Google Shape;517;p33"/>
          <p:cNvSpPr txBox="1"/>
          <p:nvPr>
            <p:ph idx="4" type="body"/>
          </p:nvPr>
        </p:nvSpPr>
        <p:spPr>
          <a:xfrm>
            <a:off x="5026500" y="2163150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Traditional CLV estimation methods often fail to capture seasonal purchasing behaviors, customer churn trends and long-term engagement patterns. Machine learning provides a more robust and data-driven approach to CLV prediction.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p33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CLV?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4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challenges?</a:t>
            </a:r>
            <a:endParaRPr/>
          </a:p>
        </p:txBody>
      </p:sp>
      <p:sp>
        <p:nvSpPr>
          <p:cNvPr id="524" name="Google Shape;524;p34"/>
          <p:cNvSpPr txBox="1"/>
          <p:nvPr>
            <p:ph idx="2" type="body"/>
          </p:nvPr>
        </p:nvSpPr>
        <p:spPr>
          <a:xfrm>
            <a:off x="452100" y="22939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Accurately predicting CLV is challenging because customer behavior is highly dynamic and non-linear. Transactions are not evenly distributed and spending patterns vary across different customer segments.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p34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</a:t>
            </a:r>
            <a:endParaRPr/>
          </a:p>
        </p:txBody>
      </p:sp>
      <p:sp>
        <p:nvSpPr>
          <p:cNvPr id="526" name="Google Shape;526;p34"/>
          <p:cNvSpPr txBox="1"/>
          <p:nvPr>
            <p:ph idx="4" type="body"/>
          </p:nvPr>
        </p:nvSpPr>
        <p:spPr>
          <a:xfrm>
            <a:off x="5026500" y="22939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Many businesses rely on heuristic-based formulas, which often fail to account for outliers, seasonality, and changing trends. This can lead to misallocation of marketing resources.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Our goal was to compare traditional CLV estimation formulas with machine learning models to determine the most reliable approach for predicting future customer revenue.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4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5"/>
          <p:cNvSpPr txBox="1"/>
          <p:nvPr>
            <p:ph idx="1" type="subTitle"/>
          </p:nvPr>
        </p:nvSpPr>
        <p:spPr>
          <a:xfrm>
            <a:off x="252450" y="26703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attributes included in the dataset: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Customer ID: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Unique identifier for each customer.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Transaction Dates: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When purchases were made.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Product Codes: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Details about purchased products.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Revenue: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The amount spent by the customer.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Oberalp ID: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Identifies whether the customer belongs to a specific loyalty segment.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5"/>
          <p:cNvSpPr txBox="1"/>
          <p:nvPr>
            <p:ph idx="2" type="body"/>
          </p:nvPr>
        </p:nvSpPr>
        <p:spPr>
          <a:xfrm>
            <a:off x="252450" y="1677650"/>
            <a:ext cx="37554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The dataset consists of E-commerce and Retail transaction records from Salewa, covering 2023 and 2024.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35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Oberalp ID</a:t>
            </a:r>
            <a:endParaRPr/>
          </a:p>
        </p:txBody>
      </p:sp>
      <p:sp>
        <p:nvSpPr>
          <p:cNvPr id="535" name="Google Shape;535;p35"/>
          <p:cNvSpPr txBox="1"/>
          <p:nvPr>
            <p:ph idx="4" type="body"/>
          </p:nvPr>
        </p:nvSpPr>
        <p:spPr>
          <a:xfrm>
            <a:off x="5026500" y="22704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We found that customers with Oberalp ID who made purchases both in 2023 and 2024 tend to have higher CLV, making this an important segmentation feature.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35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6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integration</a:t>
            </a:r>
            <a:endParaRPr/>
          </a:p>
        </p:txBody>
      </p:sp>
      <p:sp>
        <p:nvSpPr>
          <p:cNvPr id="542" name="Google Shape;542;p36"/>
          <p:cNvSpPr txBox="1"/>
          <p:nvPr>
            <p:ph idx="2" type="body"/>
          </p:nvPr>
        </p:nvSpPr>
        <p:spPr>
          <a:xfrm>
            <a:off x="452100" y="21060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We merged E-commerce and Retail datasets into a single unified dataset. Several Cleaning processes are included like: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Filtering Salewa transactions and standardizing date formats.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Filtering out some transactions (negative revenue, missing EAN codes).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Ensuring consistent revenue information for each transactions.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6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Dataset</a:t>
            </a:r>
            <a:endParaRPr/>
          </a:p>
        </p:txBody>
      </p:sp>
      <p:sp>
        <p:nvSpPr>
          <p:cNvPr id="544" name="Google Shape;544;p36"/>
          <p:cNvSpPr txBox="1"/>
          <p:nvPr>
            <p:ph idx="4" type="body"/>
          </p:nvPr>
        </p:nvSpPr>
        <p:spPr>
          <a:xfrm>
            <a:off x="5026500" y="21060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After preprocessing, we had over 1.7 million(in total) and 61,000 transactions(for 2023-2024 years), making it suitable for training machine learning models.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5" name="Google Shape;545;p36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 &amp; Cleaning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7"/>
          <p:cNvSpPr txBox="1"/>
          <p:nvPr>
            <p:ph idx="2" type="body"/>
          </p:nvPr>
        </p:nvSpPr>
        <p:spPr>
          <a:xfrm>
            <a:off x="408650" y="1304800"/>
            <a:ext cx="3755400" cy="4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We explored three different approaches for CLV calculation: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Formula-Based CLV Calculation: Uses the formula (Monetary Value × Frequency) / (Frequency + 1). While simple, it lacks predictive power.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BG/NBD Model: A probabilistic model used in marketing analytics. However, our experiments showed it failed to provide high accuracy (above 63%), especially with outliers.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ML Models: These captured non-linear trends and customer purchase behaviors more effectively.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37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</a:t>
            </a:r>
            <a:endParaRPr/>
          </a:p>
        </p:txBody>
      </p:sp>
      <p:sp>
        <p:nvSpPr>
          <p:cNvPr id="552" name="Google Shape;552;p37"/>
          <p:cNvSpPr txBox="1"/>
          <p:nvPr>
            <p:ph idx="4" type="body"/>
          </p:nvPr>
        </p:nvSpPr>
        <p:spPr>
          <a:xfrm>
            <a:off x="4985150" y="2106050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Machine learning significantly outperformed traditional approaches in terms of accuracy and generalizability.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37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CLV Calculation Approaches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8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feature engineering is important?</a:t>
            </a:r>
            <a:endParaRPr/>
          </a:p>
        </p:txBody>
      </p:sp>
      <p:sp>
        <p:nvSpPr>
          <p:cNvPr id="559" name="Google Shape;559;p38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Raw data lacks predictive power. Extracting meaningful features helps models understand patterns in customer behavior.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38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Created</a:t>
            </a:r>
            <a:endParaRPr/>
          </a:p>
        </p:txBody>
      </p:sp>
      <p:sp>
        <p:nvSpPr>
          <p:cNvPr id="561" name="Google Shape;561;p38"/>
          <p:cNvSpPr txBox="1"/>
          <p:nvPr>
            <p:ph idx="4" type="body"/>
          </p:nvPr>
        </p:nvSpPr>
        <p:spPr>
          <a:xfrm>
            <a:off x="5026500" y="2141300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Customer lifespan: The number of days since the first recorded purchase.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Average time between purchases: Helps determine if a customer is a frequent buyer or an occasional shopper.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Purchase frequency ratio: Higher values indicate more engagement.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Log transformations for monetary values: Used to handle skewed revenue distributions.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8"/>
          <p:cNvSpPr txBox="1"/>
          <p:nvPr>
            <p:ph type="title"/>
          </p:nvPr>
        </p:nvSpPr>
        <p:spPr>
          <a:xfrm>
            <a:off x="406050" y="369075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 for CLV Prediction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9"/>
          <p:cNvSpPr txBox="1"/>
          <p:nvPr>
            <p:ph idx="2" type="body"/>
          </p:nvPr>
        </p:nvSpPr>
        <p:spPr>
          <a:xfrm>
            <a:off x="475575" y="1821500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XGBoost (XGB): A gradient boosting algorithm known for its ability to model non-linear relationships and handle missing data effectively. It provided the best CLV predictions in our experiments.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Extra Trees Regressor (ETR): An ensemble learning technique that creates multiple decision trees to reduce overfitting and increase stability.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39"/>
          <p:cNvSpPr txBox="1"/>
          <p:nvPr>
            <p:ph idx="3" type="subTitle"/>
          </p:nvPr>
        </p:nvSpPr>
        <p:spPr>
          <a:xfrm>
            <a:off x="5085200" y="2841825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Machine Learning?</a:t>
            </a:r>
            <a:endParaRPr/>
          </a:p>
        </p:txBody>
      </p:sp>
      <p:sp>
        <p:nvSpPr>
          <p:cNvPr id="569" name="Google Shape;569;p39"/>
          <p:cNvSpPr txBox="1"/>
          <p:nvPr>
            <p:ph idx="4" type="body"/>
          </p:nvPr>
        </p:nvSpPr>
        <p:spPr>
          <a:xfrm>
            <a:off x="5085200" y="35974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Formula-based models failed to account for customer churn trends, seasonal fluctuations, and high-value outliers.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39"/>
          <p:cNvSpPr txBox="1"/>
          <p:nvPr>
            <p:ph type="title"/>
          </p:nvPr>
        </p:nvSpPr>
        <p:spPr>
          <a:xfrm>
            <a:off x="4060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Models Used</a:t>
            </a:r>
            <a:endParaRPr/>
          </a:p>
        </p:txBody>
      </p:sp>
      <p:sp>
        <p:nvSpPr>
          <p:cNvPr id="571" name="Google Shape;571;p39"/>
          <p:cNvSpPr txBox="1"/>
          <p:nvPr/>
        </p:nvSpPr>
        <p:spPr>
          <a:xfrm>
            <a:off x="5085200" y="145400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Multi-Layer Perceptron (MLP): A deep learning model designed to capture hidden patterns in customer behavior, but it struggled with overfitting due to outliers in the dataset.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0"/>
          <p:cNvSpPr txBox="1"/>
          <p:nvPr>
            <p:ph idx="1" type="subTitle"/>
          </p:nvPr>
        </p:nvSpPr>
        <p:spPr>
          <a:xfrm>
            <a:off x="408650" y="2505325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Used</a:t>
            </a:r>
            <a:endParaRPr/>
          </a:p>
        </p:txBody>
      </p:sp>
      <p:sp>
        <p:nvSpPr>
          <p:cNvPr id="577" name="Google Shape;577;p40"/>
          <p:cNvSpPr txBox="1"/>
          <p:nvPr>
            <p:ph idx="2" type="body"/>
          </p:nvPr>
        </p:nvSpPr>
        <p:spPr>
          <a:xfrm>
            <a:off x="408650" y="1641388"/>
            <a:ext cx="3755400" cy="9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With Train-Test Split, We used 80% of the data for training and 20% for testing to evaluate model performance.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40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579" name="Google Shape;579;p40"/>
          <p:cNvSpPr txBox="1"/>
          <p:nvPr>
            <p:ph idx="4" type="body"/>
          </p:nvPr>
        </p:nvSpPr>
        <p:spPr>
          <a:xfrm>
            <a:off x="5026500" y="21765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XGBoost had the highest R² Score (0.97), indicating it explained the most variance in CLV.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0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Training &amp; Evaluation</a:t>
            </a:r>
            <a:endParaRPr/>
          </a:p>
        </p:txBody>
      </p:sp>
      <p:sp>
        <p:nvSpPr>
          <p:cNvPr id="581" name="Google Shape;581;p40"/>
          <p:cNvSpPr txBox="1"/>
          <p:nvPr/>
        </p:nvSpPr>
        <p:spPr>
          <a:xfrm>
            <a:off x="408650" y="2882775"/>
            <a:ext cx="3755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Absolute Error (MAE): Measures the average difference between actual and predicted CLV.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Root Mean Square Error (RMSE): Captures the variance in errors.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R² Score: Explains how much of the CLV variance is captured by the model.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2" name="Google Shape;5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8" y="2882775"/>
            <a:ext cx="4538326" cy="1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1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2024</a:t>
            </a:r>
            <a:endParaRPr/>
          </a:p>
        </p:txBody>
      </p:sp>
      <p:sp>
        <p:nvSpPr>
          <p:cNvPr id="588" name="Google Shape;588;p41"/>
          <p:cNvSpPr txBox="1"/>
          <p:nvPr>
            <p:ph idx="2" type="body"/>
          </p:nvPr>
        </p:nvSpPr>
        <p:spPr>
          <a:xfrm>
            <a:off x="452100" y="22000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The model achieved 96.5% accuracy in predicting CLV values.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Machine learning captured spending behaviors better than traditional methods.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1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2025</a:t>
            </a:r>
            <a:endParaRPr/>
          </a:p>
        </p:txBody>
      </p:sp>
      <p:sp>
        <p:nvSpPr>
          <p:cNvPr id="590" name="Google Shape;590;p41"/>
          <p:cNvSpPr txBox="1"/>
          <p:nvPr>
            <p:ph idx="4" type="body"/>
          </p:nvPr>
        </p:nvSpPr>
        <p:spPr>
          <a:xfrm>
            <a:off x="5026500" y="22000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Accuracy dropped to 87%, highlighting the challenge of predicting CLV for longer timeframes.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More historical data introduced uncertainty and reduced accuracy.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1" name="Google Shape;591;p41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CLV Prediction for 2024 &amp; 2025</a:t>
            </a:r>
            <a:endParaRPr/>
          </a:p>
        </p:txBody>
      </p:sp>
      <p:pic>
        <p:nvPicPr>
          <p:cNvPr id="592" name="Google Shape;5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2" y="3658325"/>
            <a:ext cx="4282965" cy="6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600" y="3808100"/>
            <a:ext cx="4346076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2"/>
          <p:cNvSpPr txBox="1"/>
          <p:nvPr>
            <p:ph type="title"/>
          </p:nvPr>
        </p:nvSpPr>
        <p:spPr>
          <a:xfrm>
            <a:off x="406050" y="22815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Seasonal &amp; Customer Behavior Analysis</a:t>
            </a:r>
            <a:endParaRPr/>
          </a:p>
        </p:txBody>
      </p:sp>
      <p:pic>
        <p:nvPicPr>
          <p:cNvPr id="599" name="Google Shape;5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38800"/>
            <a:ext cx="4042775" cy="17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40899"/>
            <a:ext cx="5330520" cy="20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2"/>
          <p:cNvSpPr txBox="1"/>
          <p:nvPr/>
        </p:nvSpPr>
        <p:spPr>
          <a:xfrm>
            <a:off x="5521625" y="1613500"/>
            <a:ext cx="3405600" cy="30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Customer Segments (Oberalp ID Impact):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Customers with Oberalp ID consistently had higher CLV.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Loyalty-based segmentation could improve CLV forecasting.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3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Encountered</a:t>
            </a:r>
            <a:endParaRPr/>
          </a:p>
        </p:txBody>
      </p:sp>
      <p:sp>
        <p:nvSpPr>
          <p:cNvPr id="607" name="Google Shape;607;p43"/>
          <p:cNvSpPr txBox="1"/>
          <p:nvPr>
            <p:ph idx="2" type="body"/>
          </p:nvPr>
        </p:nvSpPr>
        <p:spPr>
          <a:xfrm>
            <a:off x="452100" y="20825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CLV is complex and non-linear, making generalization difficult.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Data Limitations: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Outliers significantly impacted accuracy.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Customers had inconsistent transaction histories across different years.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Longer timeframes led to lower model accuracy. Predictions for 2025 were less reliable than those for 2024.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3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from the Project</a:t>
            </a:r>
            <a:endParaRPr/>
          </a:p>
        </p:txBody>
      </p:sp>
      <p:sp>
        <p:nvSpPr>
          <p:cNvPr id="609" name="Google Shape;609;p43"/>
          <p:cNvSpPr txBox="1"/>
          <p:nvPr>
            <p:ph idx="4" type="body"/>
          </p:nvPr>
        </p:nvSpPr>
        <p:spPr>
          <a:xfrm>
            <a:off x="5026500" y="20825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Machine Learning outperforms formula-based CLV estimation, especially for long-term forecasts.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XGBoost provided the most accurate results, but struggled with outliers.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Predictive accuracy drops over time due to data uncertainty.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High CLV is associated with customers having an Oberalp ID, meaning loyalty segmentation is valuable.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3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&amp; Findings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  <p:sp>
        <p:nvSpPr>
          <p:cNvPr id="616" name="Google Shape;616;p44"/>
          <p:cNvSpPr txBox="1"/>
          <p:nvPr>
            <p:ph idx="2" type="body"/>
          </p:nvPr>
        </p:nvSpPr>
        <p:spPr>
          <a:xfrm>
            <a:off x="452100" y="21647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Refining Features: Adding behavioral metrics such as customer engagement.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Advanced Models: Experimenting with deep learning (LSTMs) or time-series models (Prophet, ARIMA).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Data Collection Improvements: Gathering more real-time customer data to improve predictions.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4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18" name="Google Shape;618;p44"/>
          <p:cNvSpPr txBox="1"/>
          <p:nvPr>
            <p:ph idx="4" type="body"/>
          </p:nvPr>
        </p:nvSpPr>
        <p:spPr>
          <a:xfrm>
            <a:off x="5026500" y="20355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Machine learning significantly improves CLV prediction, but model performance depends on data quality and feature engineering.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XGBoost was the best model but struggled with long-term forecasts.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Seasonality and segmentation (Oberalp ID) play a crucial role in CLV analysis.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Future research should explore hybrid approaches combining machine learning with statistical models.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4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ssignment #2">
  <a:themeElements>
    <a:clrScheme name="Simple Light">
      <a:dk1>
        <a:srgbClr val="000000"/>
      </a:dk1>
      <a:lt1>
        <a:srgbClr val="FCF9F6"/>
      </a:lt1>
      <a:dk2>
        <a:srgbClr val="DE7E5D"/>
      </a:dk2>
      <a:lt2>
        <a:srgbClr val="FFB185"/>
      </a:lt2>
      <a:accent1>
        <a:srgbClr val="FFE5D6"/>
      </a:accent1>
      <a:accent2>
        <a:srgbClr val="FFCCAF"/>
      </a:accent2>
      <a:accent3>
        <a:srgbClr val="CAF0F8"/>
      </a:accent3>
      <a:accent4>
        <a:srgbClr val="00B4D8"/>
      </a:accent4>
      <a:accent5>
        <a:srgbClr val="0077B6"/>
      </a:accent5>
      <a:accent6>
        <a:srgbClr val="03045E"/>
      </a:accent6>
      <a:hlink>
        <a:srgbClr val="001D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